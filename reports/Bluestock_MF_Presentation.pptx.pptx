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SIP Inflows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solidFill>
              <a:srgbClr val="FF6F00"/>
            </a:solidFill>
            <a:ln w="38100" cap="flat">
              <a:solidFill>
                <a:srgbClr val="FF6F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F00"/>
              </a:solidFill>
              <a:ln w="9525" cap="flat">
                <a:solidFill>
                  <a:srgbClr val="FF6F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Jan'22</c:v>
                  </c:pt>
                  <c:pt idx="1">
                    <c:v>Jul'22</c:v>
                  </c:pt>
                  <c:pt idx="2">
                    <c:v>Jan'23</c:v>
                  </c:pt>
                  <c:pt idx="3">
                    <c:v>Jul'23</c:v>
                  </c:pt>
                  <c:pt idx="4">
                    <c:v>Jan'24</c:v>
                  </c:pt>
                  <c:pt idx="5">
                    <c:v>Jul'24</c:v>
                  </c:pt>
                  <c:pt idx="6">
                    <c:v>Jan'25</c:v>
                  </c:pt>
                  <c:pt idx="7">
                    <c:v>Jul'25</c:v>
                  </c:pt>
                  <c:pt idx="8">
                    <c:v>Dec'25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11517</c:v>
                </c:pt>
                <c:pt idx="1">
                  <c:v>12276</c:v>
                </c:pt>
                <c:pt idx="2">
                  <c:v>14000</c:v>
                </c:pt>
                <c:pt idx="3">
                  <c:v>16000</c:v>
                </c:pt>
                <c:pt idx="4">
                  <c:v>19800</c:v>
                </c:pt>
                <c:pt idx="5">
                  <c:v>23600</c:v>
                </c:pt>
                <c:pt idx="6">
                  <c:v>26200</c:v>
                </c:pt>
                <c:pt idx="7">
                  <c:v>29800</c:v>
                </c:pt>
                <c:pt idx="8">
                  <c:v>31002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AUM by Fund House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Lakh Cr)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SBI</c:v>
                  </c:pt>
                  <c:pt idx="1">
                    <c:v>ICICI</c:v>
                  </c:pt>
                  <c:pt idx="2">
                    <c:v>HDFC</c:v>
                  </c:pt>
                  <c:pt idx="3">
                    <c:v>Nippon</c:v>
                  </c:pt>
                  <c:pt idx="4">
                    <c:v>Kotak</c:v>
                  </c:pt>
                  <c:pt idx="5">
                    <c:v>ABSL</c:v>
                  </c:pt>
                  <c:pt idx="6">
                    <c:v>UTI</c:v>
                  </c:pt>
                  <c:pt idx="7">
                    <c:v>Axis</c:v>
                  </c:pt>
                  <c:pt idx="8">
                    <c:v>Mirae</c:v>
                  </c:pt>
                  <c:pt idx="9">
                    <c:v>DSP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10.74</c:v>
                </c:pt>
                <c:pt idx="2">
                  <c:v>9.3</c:v>
                </c:pt>
                <c:pt idx="3">
                  <c:v>4.55</c:v>
                </c:pt>
                <c:pt idx="4">
                  <c:v>4.48</c:v>
                </c:pt>
                <c:pt idx="5">
                  <c:v>3.82</c:v>
                </c:pt>
                <c:pt idx="6">
                  <c:v>3.58</c:v>
                </c:pt>
                <c:pt idx="7">
                  <c:v>3.52</c:v>
                </c:pt>
                <c:pt idx="8">
                  <c:v>3.72</c:v>
                </c:pt>
                <c:pt idx="9">
                  <c:v>2.62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Transactions by Age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B5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4916</c:v>
                </c:pt>
                <c:pt idx="1">
                  <c:v>13463</c:v>
                </c:pt>
                <c:pt idx="2">
                  <c:v>8146</c:v>
                </c:pt>
                <c:pt idx="3">
                  <c:v>3779</c:v>
                </c:pt>
                <c:pt idx="4">
                  <c:v>2474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T30 vs B30 City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FF6F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T30 Cities</c:v>
                </c:pt>
                <c:pt idx="1">
                  <c:v>B30 Cities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66.3</c:v>
                </c:pt>
                <c:pt idx="1">
                  <c:v>33.7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Funds — 3-Year CAGR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3-Year CAGR (%)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8E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1C78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SBI Small Cap
Regular</c:v>
                  </c:pt>
                  <c:pt idx="1">
                    <c:v>SBI Small Cap
Direct</c:v>
                  </c:pt>
                  <c:pt idx="2">
                    <c:v>ABSL Small Cap</c:v>
                  </c:pt>
                  <c:pt idx="3">
                    <c:v>Axis Small Cap</c:v>
                  </c:pt>
                  <c:pt idx="4">
                    <c:v>Nippon Small Cap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23.39</c:v>
                </c:pt>
                <c:pt idx="1">
                  <c:v>23.14</c:v>
                </c:pt>
                <c:pt idx="2">
                  <c:v>22.38</c:v>
                </c:pt>
                <c:pt idx="3">
                  <c:v>20.98</c:v>
                </c:pt>
                <c:pt idx="4">
                  <c:v>20.15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017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A2B6D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35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Madhankumar 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017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A2B6D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035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0604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A2B6D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35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017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A2B6D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035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866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023360"/>
            <a:ext cx="9144000" cy="914400"/>
          </a:xfrm>
          <a:prstGeom prst="rect">
            <a:avLst/>
          </a:prstGeom>
          <a:solidFill>
            <a:srgbClr val="081035"/>
          </a:solidFill>
          <a:ln w="12700">
            <a:solidFill>
              <a:srgbClr val="081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46,000+ NAV Records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Transactions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87K+ Rows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BFDA79190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247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8813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30759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SIP data scattered across AMFI, NSE, BSE in different formats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74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37944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0574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compare funds on risk-adjusted basis across AMCs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243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8775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Tracking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80720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cannot verify if fund beats benchmark index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00984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741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375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Blind Spot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55701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demographic &amp; geographic investment patterns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05079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2394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08736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306824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PDF reports — no live, self-service dashboards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ETL pipeline from raw AMFI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normalised SQL star-schema database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Sharpe, Alpha, Beta, VaR, CVaR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Power BI dashboard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investor behaviour patterns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fund recommender system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15+ publication-quality charts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Datasets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24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389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24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Yrs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389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24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389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283464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1097280"/>
                <a:gridCol w="420624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metadata, expense ratios, fund managers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Jan 2022 – 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aum_by_fund_house.csv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 for top 10 AMCs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monthly_sip_inflows.csv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SIP inflow data 2022–2025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/ Lumpsum / Redemption 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50, Nifty 100, BSE SmallCap indices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87,533+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 | mfapi.in | NSE | BSE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ETL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F0F4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04241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EXTRACT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CSV datasets + mfapi.in REST API + NSE/BSE benchmark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0195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1810512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F0F4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847088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TRANSFORM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08483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 — clean dates, forward-fill NAV, remove duplicates, validate AMFI codes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0662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1560" y="2615184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F0F4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651760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8895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 — 5 tables: dim_fund, fact_nav, fact_transactions, fact_performance, fact_benchmark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19856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1129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1560" y="3419856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F0F4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45643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ANALYSE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369417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— EDA (15+ charts), Performance metrics (Sharpe, Alpha, Beta), Advanced analytics (VaR, HHI)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159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51560" y="4224528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F0F4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26110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VISUALISE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449884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4-page interactive dashboard with slicers and drill-through filters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3.10  |  Pandas  |  NumPy  |  SciPy  |  SQLite  |  SQLAlchemy  |  Matplotlib  |  Seaborn  |  Power BI  |  Git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Industry Trends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100584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9319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39502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" y="4370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ATH Dec 2025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423160" y="39319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423160" y="39502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 Growth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423160" y="4370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2022–25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0" y="39319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0" y="39502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₹81L Cr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4370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2025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720840" y="39319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720840" y="39502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20840" y="4370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Investor Insights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05840"/>
          <a:ext cx="4297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3520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26-35 age group most active — 41% of all transactions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274320" y="384962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UPI dominates — 55%+ of all transactions use UPI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74320" y="4178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T30 cities: 66.3% | B30 cities: 33.7% — huge untapped opportunity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74320" y="45079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92% investors are KYC verified — strong compliance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Punjab, Tamil Nadu, Madhya Pradesh lead SIP investments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 Analytics — Returns &amp; Ranking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00584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Top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ICICI Pru Midcap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14630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7784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Axis Midcap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19202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77840" y="2377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 HDFC Mid-Cap Opp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0" y="23774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77840" y="2834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Mirae Asset Large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0" y="28346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77840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Kotak Flexicap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0" y="32918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7784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30% Return + 25% Sharpe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+ 20% Alpha + 15% Expense + 10% Drawdown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74320" y="393192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Annualised Return Across All 40 Funds: 16.09%  |  Best Fund: SBI Small Cap 23.39% CAGR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Metrics &amp; Advanced Analytics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137160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risk-adjusted return (&gt;1 is good)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downside risk protection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Short Term Debt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Outperforms benchmark by 27.2%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VaR (95%)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Liquid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Safest fund — minimal daily loss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VaR (95%)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risk — can lose 2.69% in a 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-52.57%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peak-to-trough decline 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70332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Recommender System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Low Risk  →  Liquid Funds  (Sharpe: 7.68)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33756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Moderate Risk  →  Large Cap Funds  (Sharpe: 1.45)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1792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Risk  →  Small Cap Funds  (CAGR: 23.39%)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Page 1: Industry Overview &amp; Page 2: Fund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0F4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Card: Total AUM — ₹391.76 Lakh Crore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Card: SIP Inflows — 940K crore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Card: Active SIP Accounts — 345.10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Card: Total Schemes — 40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Line Chart (2022–2025)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 — Horizontal Bar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dominance clearly visible (₹12.5L Cr)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0F4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Return (X) vs Sharpe Ratio (Y)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Fund Scorecard Table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CAGR, Sharpe, Composite Score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Line Chart by Year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Fund House filter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Category (Equity/Debt)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Plan (Direct/Regular)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Page 3: Investor Analytics &amp; Page 4: SIP Trends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0F4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Donut: Lumpsum 58.5% | SIP 6.2% | Redemption 35.3%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Transaction amount by State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leads SIP investments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Average SIP by Age Group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Line: Monthly Transaction Volume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State | Age Group | City Tier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vs B30 comparative analysis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0F4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Dual-axis: SIP Inflow (bar) + Nifty 50 (line)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SIP growth vs market correlation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 Matrix (FY24 vs FY25)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dominate net inflows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Active SIP Accounts — 345.10 Cr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YoY SIP Growth — 1.13K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Year | Category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Returns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delivered highest 3yr CAGR of 23.39%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 funds offer best risk-adjusted returns (Sharpe &gt;1.0)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2494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5 funds outperform Nifty 50 benchmark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97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Industry Growth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ATH: ₹31,002 Cr in Dec 2025 — 3x growth since 2022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8470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doubled: 13.26 → 26.12 crore in 4 years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2494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doubled: ₹38L Cr → ₹81L Cr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1089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Investor Behaviour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456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 SIP investors have irregular payment gaps (&gt;35 days)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858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dominate — B30 cities are untapped opportunity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2611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age group most active — 41% of all transactions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1089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 Insights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56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VaR: -2.69% daily — highest risk category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858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most concentrated portfolio (HHI: 0.2064)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42611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plans save 0.67% expense ratio vs Regular plans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Madhankumar V  |  Data Analyst Intern  |  Bluestock Fintech Pvt. Ltd.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2743200"/>
          </a:xfrm>
          <a:prstGeom prst="roundRect">
            <a:avLst>
              <a:gd name="adj" fmla="val 4000"/>
            </a:avLst>
          </a:prstGeom>
          <a:solidFill>
            <a:srgbClr val="0D1B4B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ETL Pipeline (Python)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0" y="22677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SQLite Database — 86,908 rows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26151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EDA — 15+ Charts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96265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Performance Analytics (Sharpe, Alpha, Beta, VaR)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33101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Power BI Dashboard — 4 Interactive Pages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Advanced Analytics (VaR, Cohort, Recommender, HHI)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4005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Report PDF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github.com/madhanastro/bluestock-mf-capstone  |  Project ID: BFDA79190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Fintech — Mutual Fund Analytics Platform</dc:title>
  <dc:subject>PptxGenJS Presentation</dc:subject>
  <dc:creator>Madhankumar V</dc:creator>
  <cp:lastModifiedBy>Madhankumar V</cp:lastModifiedBy>
  <cp:revision>1</cp:revision>
  <dcterms:created xsi:type="dcterms:W3CDTF">2026-06-11T08:26:00Z</dcterms:created>
  <dcterms:modified xsi:type="dcterms:W3CDTF">2026-06-11T08:26:00Z</dcterms:modified>
</cp:coreProperties>
</file>